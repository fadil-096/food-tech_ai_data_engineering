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 autoAdjust="0"/>
  </p:normalViewPr>
  <p:slideViewPr>
    <p:cSldViewPr snapToGrid="0" snapToObjects="1">
      <p:cViewPr>
        <p:scale>
          <a:sx n="75" d="100"/>
          <a:sy n="75" d="100"/>
        </p:scale>
        <p:origin x="25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110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walkthrough of the Zomato AI data engineering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63955" y="-1029081"/>
            <a:ext cx="3001518" cy="2693289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1270635" y="1380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359152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Food-Tech AI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2245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batch pipeline — from raw CSVs to AI-powered analytics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75488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·  Snowflake  ·  dbt  ·  Airflow  ·  Local LLMs  ·  Streamlit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779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Fadil Ahmed – Data Science Student/Analyst</a:t>
            </a:r>
            <a:endParaRPr lang="en-US" sz="19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AD001F8-21A7-6D9D-0E2E-3633FFA38317}"/>
              </a:ext>
            </a:extLst>
          </p:cNvPr>
          <p:cNvSpPr/>
          <p:nvPr/>
        </p:nvSpPr>
        <p:spPr>
          <a:xfrm>
            <a:off x="8321040" y="2987611"/>
            <a:ext cx="5871718" cy="5948553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deliberate design choices, made up front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05840" y="21031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ELT, not ETL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603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 into the warehouse first, then transform it there. Snowflake's compute is cheap and elastic, so transformation logic lives in version-controlled SQL instead of a brittle pre-load script.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88620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005840" y="41605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Batch, not streaming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177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analytics answer daily questions — GMV, cancel rate, SLA breaches. A daily DAG is the honest fit. Streaming adds cost and operational complexity this problem does not need.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pipeline that a single person can build, run, debug and explain.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one orchestrator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975104" cy="2011680"/>
          </a:xfrm>
          <a:prstGeom prst="roundRect">
            <a:avLst>
              <a:gd name="adj" fmla="val 3704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22376" y="2304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CSVs, one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per table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4036" y="280720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43784" y="1920240"/>
            <a:ext cx="1975104" cy="2011680"/>
          </a:xfrm>
          <a:prstGeom prst="roundRect">
            <a:avLst>
              <a:gd name="adj" fmla="val 3704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971800" y="2304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RAW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27889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via a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integration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3460" y="280720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93208" y="1920240"/>
            <a:ext cx="1975104" cy="2011680"/>
          </a:xfrm>
          <a:prstGeom prst="roundRect">
            <a:avLst>
              <a:gd name="adj" fmla="val 3704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221224" y="2304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Staging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27889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type and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each source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72884" y="280720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42632" y="1920240"/>
            <a:ext cx="1975104" cy="2011680"/>
          </a:xfrm>
          <a:prstGeom prst="roundRect">
            <a:avLst>
              <a:gd name="adj" fmla="val 3704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470648" y="2304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Marts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889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Dimensions, facts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aggregates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2308" y="280720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592056" y="1920240"/>
            <a:ext cx="1975104" cy="2011680"/>
          </a:xfrm>
          <a:prstGeom prst="roundRect">
            <a:avLst>
              <a:gd name="adj" fmla="val 3704"/>
            </a:avLst>
          </a:prstGeom>
          <a:solidFill>
            <a:srgbClr val="1C1C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720072" y="230428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83496" y="27889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Enrichment, RAG,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3434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68680" y="43434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 —  one daily DAG runs all five stages as a single dependency graph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never appear in code — Docker injects them as environment variables, read by dbt through env_var().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dimension files, three generated fact 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551176" cy="1874520"/>
          </a:xfrm>
          <a:prstGeom prst="roundRect">
            <a:avLst>
              <a:gd name="adj" fmla="val 3902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04088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9809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1568" y="1828800"/>
            <a:ext cx="2551176" cy="1874520"/>
          </a:xfrm>
          <a:prstGeom prst="roundRect">
            <a:avLst>
              <a:gd name="adj" fmla="val 3902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511296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23M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3511296" y="29809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551176" cy="1874520"/>
          </a:xfrm>
          <a:prstGeom prst="roundRect">
            <a:avLst>
              <a:gd name="adj" fmla="val 3902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318504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9809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reviews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15984" y="1828800"/>
            <a:ext cx="2551176" cy="1874520"/>
          </a:xfrm>
          <a:prstGeom prst="roundRect">
            <a:avLst>
              <a:gd name="adj" fmla="val 3902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125712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2.29 GB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9125712" y="29809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on disk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11480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volume matters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53712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 million rows, a full rebuild on every run stops being acceptable — which is what forces the fact tables to be incremental.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unstructured text, so no amount of SQL turns them into a metric — which is what creates the need for an AI layer.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large enough that design mistakes show up as slow queries instead of staying invisible.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Ingestion: S3 to Snowflake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keyless handshake, not a stored password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532120" cy="3794760"/>
          </a:xfrm>
          <a:prstGeom prst="roundRect">
            <a:avLst>
              <a:gd name="adj" fmla="val 1928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41832" y="20848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78608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IAM policy grants read-only access to the bucket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Snowflake STORAGE INTEGRATION points at the IAM role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INTEGRATION returns Snowflake's IAM user ARN and an external ID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pasted back into the role's trust policy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then loads each file into the RAW schema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66360" cy="3794760"/>
          </a:xfrm>
          <a:prstGeom prst="roundRect">
            <a:avLst>
              <a:gd name="adj" fmla="val 1928"/>
            </a:avLst>
          </a:prstGeom>
          <a:solidFill>
            <a:srgbClr val="1C1C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739128" y="20848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lessons learned the hard way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775704" y="2615184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policy Principal must be Snowflake's IAM user ARN — not the account root. Using :root fails with a permission error that points nowhere useful.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re-run CREATE OR REPLACE on the integration. It regenerates the external ID, silently breaking the trust relationship you already configured.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keys are ever stored in Snowflake, in dbt, or in the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medallion layout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schemas, each with one job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14400" y="19751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95681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as text, tolerantly. Nothing is rejected at the door — a bad row lands and is dealt with downstream, where the failure is visible.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999232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914400" y="31455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47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12724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per source. Clean, cast, rename. This is where messy strings become typed columns and garbage becomes NULL.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169664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14400" y="43159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183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429768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Dimensions, incremental facts and aggregate marts. The layer everything downstream is allowed to query.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340096"/>
            <a:ext cx="10972800" cy="1042416"/>
          </a:xfrm>
          <a:prstGeom prst="roundRect">
            <a:avLst>
              <a:gd name="adj" fmla="val 7018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14400" y="5486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88873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546811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stored as a table, so dbt can treat model predictions as just another source.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Silver: cleaning the mess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real-world data stops being embarrassing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in dbt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914400" y="221284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text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212848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 where a number belongs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212848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 turns it into a real NULL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163824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914400" y="316382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strings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16382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symbols inside a price column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3163824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REGEXP_SUBSTR pulls out the digits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114800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14400" y="411480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numbers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11480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in a numeric field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114800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TRY_TO_DECIMAL returns NULL, never fails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5065776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14400" y="506577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506577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stored in mixed case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5065776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makes joins behave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data tolerantly, then enforce types where failures are visible and testable.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Gold: dimensions and facts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schema, built to re-run cheaply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321808" cy="3794760"/>
          </a:xfrm>
          <a:prstGeom prst="roundRect">
            <a:avLst>
              <a:gd name="adj" fmla="val 1928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41832" y="20848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78608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dim_restaurants — parsed from the messiest source file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 — with derived age segments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dim_food — the menu catalogue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— a generated calendar spine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44348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spine matters: GROUP BY order_date silently drops days with zero orders, and a chart built on it quietly lies.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321808" cy="3794760"/>
          </a:xfrm>
          <a:prstGeom prst="roundRect">
            <a:avLst>
              <a:gd name="adj" fmla="val 1928"/>
            </a:avLst>
          </a:prstGeom>
          <a:solidFill>
            <a:srgbClr val="1C1C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592824" y="20848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facts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578608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fct_orders and fact_order_items are materialized incrementally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on the primary key updates existing rows and inserts new ones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re-run processes only new records, not ten million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4348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is what makes the task idempotent — and idempotency is what makes Airflow's automatic retries safe.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mart per business question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defined once, in version control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21808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05256" y="2130552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city revenue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2569464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GMV, average order value and cancel rate by city and day. DIV0 keeps a zero-order day from crashing the rate calculation.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321808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556248" y="2130552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performance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569464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revenue and average rating per restaurant — the leaderboard an operator actually wants to see.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968496"/>
            <a:ext cx="5321808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905256" y="4224528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SLA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" y="466344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and p90 delivery time by city and hour. Averages hide the pain; percentiles are the honest number.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3968496"/>
            <a:ext cx="5321808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556248" y="4224528"/>
            <a:ext cx="4700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insights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56248" y="466344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topic counts, built on top of the LLM-enriched table.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metric lives in dbt, every consumer — dashboard, notebook, or LLM — gets the same number.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warehouse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build runs models and tests in dependency order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2002536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12648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order_id — catches a broken incremental MERGE immediately.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" y="2871216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12648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not_null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834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foreign keys are always populated.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" y="3739896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12648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restaurant_id in the fact table exists in the dimension.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" y="4608576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12648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accepted_values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4572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 only ever holds the values the marts expect.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349240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41832" y="5349240"/>
            <a:ext cx="10277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 stops the DAG. That is the point — bad data should never reach a dashboard quietly.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daily DAG, four tasks, one dependency 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" y="2066544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68680" y="2066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90472" y="182880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reload_raw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828800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from the S3 stage refreshes the Bronze tables.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871216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68680" y="3108960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686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90472" y="2871216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dbt_build_core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871216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tests every model except those tagged ai.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913632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68680" y="4151376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68680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90472" y="3913632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enrich_reviews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913632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new review text to an LLM and writes structured columns back.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956048"/>
            <a:ext cx="10972800" cy="896112"/>
          </a:xfrm>
          <a:prstGeom prst="roundRect">
            <a:avLst>
              <a:gd name="adj" fmla="val 816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8680" y="5193792"/>
            <a:ext cx="420624" cy="42062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68680" y="5193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90472" y="4956048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dbt_build_ai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4956048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only the AI-tagged mart, now that fresh predictions exist.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exists because of a dbt tag: core models build first, the LLM enriches fresh reviews, then only the AI mart rebuilds.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transformation step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the whole AI layer rests 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1C1C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33272" y="1828800"/>
            <a:ext cx="10094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is not special infrastructure. It is a function that turns text into columns.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352044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95528" y="37673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418795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reviews that have not been enriched yet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45536" y="4370832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401568" y="352044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602736" y="37673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418795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for sentiment, topic and key issue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52744" y="4370832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08776" y="352044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09944" y="37673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418795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strict JSON so the reply drops into columns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59952" y="4370832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015984" y="3520440"/>
            <a:ext cx="2551176" cy="1920240"/>
          </a:xfrm>
          <a:prstGeom prst="roundRect">
            <a:avLst>
              <a:gd name="adj" fmla="val 381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217152" y="37673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4187952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 table dbt reads as an ordinary source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742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is idempotent and sample-capped: already-classified reviews are skipped, so a re-run never repeats work.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your reviews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over review text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6382512" cy="3794760"/>
          </a:xfrm>
          <a:prstGeom prst="roundRect">
            <a:avLst>
              <a:gd name="adj" fmla="val 1928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41832" y="208483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gets answered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78608"/>
            <a:ext cx="5715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 is embedded once and cached to Parquet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embedded with the same model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selects the five closest reviews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using only those five as context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rows are shown alongside the answer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51192" y="1828800"/>
            <a:ext cx="4315968" cy="3794760"/>
          </a:xfrm>
          <a:prstGeom prst="roundRect">
            <a:avLst>
              <a:gd name="adj" fmla="val 1928"/>
            </a:avLst>
          </a:prstGeom>
          <a:solidFill>
            <a:srgbClr val="1C1C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589520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show the sources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626096" y="2578608"/>
            <a:ext cx="36393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the retrieved reviews turns an answer into evidence. A claim you can trace back to a specific row is worth more than a fluent paragraph you cannot check.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26096" y="4297680"/>
            <a:ext cx="3639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makes the failure mode obvious: if the sources are irrelevant, retrieval is the problem, not the model.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local models — nothing leaves the machine, and there is no per-query cost.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your warehouse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in, Snowflake SQL 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04088" y="2121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in plain English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4036" y="262432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43784" y="182880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953512" y="2121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prompt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35224" y="25603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the mart 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3460" y="262432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93208" y="182880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202936" y="2121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SQL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25603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as strict JSON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72884" y="262432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42632" y="182880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452360" y="2121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check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5603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SELECT-only, run as a read-only role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2308" y="2624328"/>
            <a:ext cx="274320" cy="237744"/>
          </a:xfrm>
          <a:prstGeom prst="rightArrow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592056" y="1828800"/>
            <a:ext cx="1975104" cy="1828800"/>
          </a:xfrm>
          <a:prstGeom prst="roundRect">
            <a:avLst>
              <a:gd name="adj" fmla="val 4000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701784" y="212140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83496" y="256032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plus an automatic chart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776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query must begin with SELECT or WITH, and is rejected if it contains a data-modifying keyword.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executes as a role with no write grants, so even a query that slips past the check cannot change anything.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the keyword check is a substring match, so it also rejects harmless columns such as created_at. Proper SQL parsing is the real fix.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7548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475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2062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worth defending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0584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behind the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50392" y="2112264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 first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551176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retries on failure. A task that is not idempotent turns a retry into corrupted data on a schedule.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599432" y="2112264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Percentiles over averages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551176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delivery time hides the worst experiences. p90 is the number a customer actually feels.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348472" y="2112264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generated date spine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551176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days with no orders vanish from a time series and the trend line misleads.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950208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50392" y="418795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to split the DAG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" y="4626864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dbt tag lets core models and AI models build at different points in the same run.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50208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599432" y="418795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JSON from the LLM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4626864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is unparseable. Demanding a schema is what makes model output loadable.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3950208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4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348472" y="418795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in its own virtualenv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48472" y="4626864"/>
            <a:ext cx="2962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and dbt have conflicting dependencies, so Airflow shells out instead of importing.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came from something breaking first.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475488" cy="475488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94360" y="566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512064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what comes next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76272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cache invalidates on nothing — new reviews will not appear in RAG results until it is rebuilt.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sees only the mart tables, so item-level questions cannot be answered.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guard matches substrings rather than parsing, so it rejects some valid queries.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is sample-capped, so a full backlog would take many runs to clear.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76272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SCD2 snapshot to track restaurant attributes changing over time.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singular tests — delivery never before order, GMV never negative.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cohort and retention marts on top of the existing dimensions.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9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Streamlit dashboard over the marts, beside the two AI apps.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870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1761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Fadil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AI Data Engineering</dc:title>
  <dc:subject>End-to-end batch data pipeline</dc:subject>
  <dc:creator>Fadil</dc:creator>
  <cp:lastModifiedBy>M.FADIL AHMED - 123191939 - MITBLR</cp:lastModifiedBy>
  <cp:revision>3</cp:revision>
  <dcterms:created xsi:type="dcterms:W3CDTF">2026-09-02T20:51:45Z</dcterms:created>
  <dcterms:modified xsi:type="dcterms:W3CDTF">2026-09-02T20:57:56Z</dcterms:modified>
</cp:coreProperties>
</file>